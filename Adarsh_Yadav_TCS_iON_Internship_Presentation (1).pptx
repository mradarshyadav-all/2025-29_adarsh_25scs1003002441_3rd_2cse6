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8DD0C3-6640-4AE9-B79E-11CA8D28A79F}" v="171" dt="2026-08-26T06:23:53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E4E43A-C6D9-5ACE-CC9F-A9D589388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659" y="2258498"/>
            <a:ext cx="11521540" cy="1359678"/>
          </a:xfrm>
        </p:spPr>
        <p:txBody>
          <a:bodyPr anchor="b">
            <a:normAutofit fontScale="90000"/>
          </a:bodyPr>
          <a:lstStyle/>
          <a:p>
            <a:r>
              <a:rPr lang="en-US" sz="5200">
                <a:ea typeface="+mj-lt"/>
                <a:cs typeface="+mj-lt"/>
              </a:rPr>
              <a:t>School of Computer Science and Engineering</a:t>
            </a:r>
            <a:endParaRPr lang="en-US">
              <a:ea typeface="Calibri"/>
              <a:cs typeface="Calibri"/>
            </a:endParaRPr>
          </a:p>
          <a:p>
            <a:r>
              <a:rPr lang="en-US" sz="5200">
                <a:ea typeface="+mj-lt"/>
                <a:cs typeface="+mj-lt"/>
              </a:rPr>
              <a:t>  IILM University, </a:t>
            </a:r>
            <a:r>
              <a:rPr lang="en-US" sz="5200" dirty="0">
                <a:ea typeface="+mj-lt"/>
                <a:cs typeface="+mj-lt"/>
              </a:rPr>
              <a:t>Greater Noida, U.P.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B5C2E-4B3E-0298-7BBA-4525B85C35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473" y="3542550"/>
            <a:ext cx="7721914" cy="3160874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285750" indent="-285750">
              <a:buChar char="•"/>
            </a:pPr>
            <a:r>
              <a:rPr lang="en-US" b="1" dirty="0">
                <a:solidFill>
                  <a:schemeClr val="tx2"/>
                </a:solidFill>
                <a:ea typeface="+mn-lt"/>
                <a:cs typeface="+mn-lt"/>
              </a:rPr>
              <a:t>Internship Topic/Title: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chemeClr val="tx2"/>
                </a:solidFill>
                <a:latin typeface="Consolas"/>
              </a:rPr>
              <a:t>TCS </a:t>
            </a:r>
            <a:r>
              <a:rPr lang="en-US" dirty="0" err="1">
                <a:solidFill>
                  <a:schemeClr val="tx2"/>
                </a:solidFill>
                <a:latin typeface="Consolas"/>
              </a:rPr>
              <a:t>iON</a:t>
            </a:r>
            <a:r>
              <a:rPr lang="en-US" dirty="0">
                <a:solidFill>
                  <a:schemeClr val="tx2"/>
                </a:solidFill>
                <a:latin typeface="Consolas"/>
              </a:rPr>
              <a:t> Career Edge – Young Professional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chemeClr val="tx2"/>
              </a:solidFill>
            </a:endParaRPr>
          </a:p>
          <a:p>
            <a:pPr marL="285750" indent="-285750">
              <a:buChar char="•"/>
            </a:pPr>
            <a:r>
              <a:rPr lang="en-US" b="1">
                <a:solidFill>
                  <a:schemeClr val="tx2"/>
                </a:solidFill>
                <a:ea typeface="+mn-lt"/>
                <a:cs typeface="+mn-lt"/>
              </a:rPr>
              <a:t>Student Name: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>
                <a:solidFill>
                  <a:schemeClr val="tx2"/>
                </a:solidFill>
                <a:latin typeface="Consolas"/>
              </a:rPr>
              <a:t>ADARSH YADAV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chemeClr val="tx2"/>
              </a:solidFill>
            </a:endParaRPr>
          </a:p>
          <a:p>
            <a:pPr marL="285750" indent="-285750">
              <a:buChar char="•"/>
            </a:pPr>
            <a:r>
              <a:rPr lang="en-US" b="1">
                <a:solidFill>
                  <a:schemeClr val="tx2"/>
                </a:solidFill>
                <a:ea typeface="+mn-lt"/>
                <a:cs typeface="+mn-lt"/>
              </a:rPr>
              <a:t>Enrollment Number: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>
                <a:solidFill>
                  <a:schemeClr val="tx2"/>
                </a:solidFill>
                <a:latin typeface="Consolas"/>
              </a:rPr>
              <a:t>25SCS100302441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chemeClr val="tx2"/>
              </a:solidFill>
            </a:endParaRPr>
          </a:p>
          <a:p>
            <a:pPr marL="285750" indent="-285750">
              <a:buChar char="•"/>
            </a:pPr>
            <a:r>
              <a:rPr lang="en-US" b="1" dirty="0">
                <a:solidFill>
                  <a:schemeClr val="tx2"/>
                </a:solidFill>
                <a:ea typeface="+mn-lt"/>
                <a:cs typeface="+mn-lt"/>
              </a:rPr>
              <a:t>Program &amp; Semester: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onsolas"/>
              </a:rPr>
              <a:t>B.Tech</a:t>
            </a:r>
            <a:r>
              <a:rPr lang="en-US" dirty="0">
                <a:solidFill>
                  <a:schemeClr val="tx2"/>
                </a:solidFill>
                <a:latin typeface="Consolas"/>
              </a:rPr>
              <a:t> CSE – Semester III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chemeClr val="tx2"/>
              </a:solidFill>
            </a:endParaRPr>
          </a:p>
          <a:p>
            <a:pPr marL="285750" indent="-285750">
              <a:buChar char="•"/>
            </a:pPr>
            <a:r>
              <a:rPr lang="en-US" b="1" dirty="0">
                <a:solidFill>
                  <a:schemeClr val="tx2"/>
                </a:solidFill>
                <a:ea typeface="+mn-lt"/>
                <a:cs typeface="+mn-lt"/>
              </a:rPr>
              <a:t>Organization Name: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chemeClr val="tx2"/>
                </a:solidFill>
                <a:latin typeface="Consolas"/>
              </a:rPr>
              <a:t>TCS </a:t>
            </a:r>
            <a:r>
              <a:rPr lang="en-US" dirty="0" err="1">
                <a:solidFill>
                  <a:schemeClr val="tx2"/>
                </a:solidFill>
                <a:latin typeface="Consolas"/>
              </a:rPr>
              <a:t>iON</a:t>
            </a:r>
            <a:r>
              <a:rPr lang="en-US" dirty="0">
                <a:solidFill>
                  <a:schemeClr val="tx2"/>
                </a:solidFill>
                <a:latin typeface="Consolas"/>
              </a:rPr>
              <a:t> (Tata Consultancy Services)</a:t>
            </a:r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  <a:ea typeface="Calibri"/>
              <a:cs typeface="Calibri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BB45E2F-232F-99E4-1A2C-CD62DC6F8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537" y="156473"/>
            <a:ext cx="206692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861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57200" y="5303520"/>
            <a:ext cx="1645920" cy="1645920"/>
          </a:xfrm>
          <a:prstGeom prst="ellipse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194560" y="5760720"/>
            <a:ext cx="1097280" cy="1097280"/>
          </a:xfrm>
          <a:prstGeom prst="ellipse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926080" y="365760"/>
            <a:ext cx="731520" cy="731520"/>
          </a:xfrm>
          <a:prstGeom prst="ellipse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502920"/>
            <a:ext cx="538581" cy="538581"/>
          </a:xfrm>
          <a:prstGeom prst="ellipse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rc 7"/>
          <p:cNvSpPr/>
          <p:nvPr/>
        </p:nvSpPr>
        <p:spPr>
          <a:xfrm>
            <a:off x="646480" y="798271"/>
            <a:ext cx="217170" cy="156362"/>
          </a:xfrm>
          <a:prstGeom prst="arc">
            <a:avLst/>
          </a:prstGeom>
          <a:noFill/>
          <a:ln w="25400">
            <a:solidFill>
              <a:srgbClr val="12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rc 8"/>
          <p:cNvSpPr/>
          <p:nvPr/>
        </p:nvSpPr>
        <p:spPr>
          <a:xfrm>
            <a:off x="872337" y="798271"/>
            <a:ext cx="217170" cy="156362"/>
          </a:xfrm>
          <a:prstGeom prst="arc">
            <a:avLst/>
          </a:prstGeom>
          <a:noFill/>
          <a:ln w="25400">
            <a:solidFill>
              <a:srgbClr val="12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809" y="572414"/>
            <a:ext cx="2171700" cy="451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20" b="1">
                <a:solidFill>
                  <a:srgbClr val="122340"/>
                </a:solidFill>
                <a:latin typeface="Aptos Display"/>
              </a:defRPr>
            </a:pPr>
            <a:r>
              <a:t>IILM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INTERNSHIP</a:t>
            </a:r>
            <a:br/>
            <a:r>
              <a:t>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777240"/>
            <a:ext cx="72237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22340"/>
                </a:solidFill>
                <a:latin typeface="Aptos Display"/>
              </a:defRPr>
            </a:pPr>
            <a:r>
              <a:t>TCS iON Career Edge –</a:t>
            </a:r>
            <a:br/>
            <a:r>
              <a:t>Young Professional</a:t>
            </a:r>
          </a:p>
          <a:p>
            <a:pPr>
              <a:defRPr sz="1700">
                <a:solidFill>
                  <a:srgbClr val="008F99"/>
                </a:solidFill>
                <a:latin typeface="Aptos"/>
              </a:defRPr>
            </a:pPr>
            <a:r>
              <a:t>Training / Professional Development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74320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7584"/>
                </a:solidFill>
                <a:latin typeface="Aptos"/>
              </a:defRPr>
            </a:pPr>
            <a:r>
              <a:t>Student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724912"/>
            <a:ext cx="5074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630"/>
                </a:solidFill>
                <a:latin typeface="Aptos"/>
              </a:defRPr>
            </a:pPr>
            <a:r>
              <a:t>ADARSH YADAV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26440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7584"/>
                </a:solidFill>
                <a:latin typeface="Aptos"/>
              </a:defRPr>
            </a:pPr>
            <a:r>
              <a:t>Roll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246120"/>
            <a:ext cx="5074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630"/>
                </a:solidFill>
                <a:latin typeface="Aptos"/>
              </a:defRPr>
            </a:pPr>
            <a:r>
              <a:t>2441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785615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7584"/>
                </a:solidFill>
                <a:latin typeface="Aptos"/>
              </a:defRPr>
            </a:pPr>
            <a:r>
              <a:t>Program &amp; Semester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3767328"/>
            <a:ext cx="5074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630"/>
                </a:solidFill>
                <a:latin typeface="Aptos"/>
              </a:defRPr>
            </a:pPr>
            <a:r>
              <a:t>B.Tech CSE | Semester III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306824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7584"/>
                </a:solidFill>
                <a:latin typeface="Aptos"/>
              </a:defRPr>
            </a:pPr>
            <a:r>
              <a:t>Batch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4288536"/>
            <a:ext cx="5074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630"/>
                </a:solidFill>
                <a:latin typeface="Aptos"/>
              </a:defRPr>
            </a:pPr>
            <a:r>
              <a:t>2025–29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828032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7584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4809744"/>
            <a:ext cx="5074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630"/>
                </a:solidFill>
                <a:latin typeface="Aptos"/>
              </a:defRPr>
            </a:pPr>
            <a:r>
              <a:t>TCS iON (Tata Consultancy Services)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534924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7584"/>
                </a:solidFill>
                <a:latin typeface="Aptos"/>
              </a:defRPr>
            </a:pPr>
            <a:r>
              <a:t>Program 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5330952"/>
            <a:ext cx="5074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630"/>
                </a:solidFill>
                <a:latin typeface="Aptos"/>
              </a:defRPr>
            </a:pPr>
            <a:r>
              <a:t>11 August 2026 – 25 August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656539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84"/>
                </a:solidFill>
                <a:latin typeface="Aptos"/>
              </a:defRPr>
            </a:pPr>
            <a:r>
              <a:t>TCS iON Career Edge – Young Professional  |  Adarsh Yadav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584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1. Program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554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7E4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64008" cy="1874519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216151"/>
            <a:ext cx="49834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What is the program?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09928"/>
            <a:ext cx="5142159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dirty="0"/>
              <a:t>TCS </a:t>
            </a:r>
            <a:r>
              <a:rPr err="1"/>
              <a:t>iON</a:t>
            </a:r>
            <a:r>
              <a:t> Career Edge – Young Professional is a professional-development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rPr dirty="0"/>
              <a:t>course designed around workplace readiness, communication, problem-solving and foundational technology awareness.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5156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051560"/>
            <a:ext cx="64008" cy="1874519"/>
          </a:xfrm>
          <a:prstGeom prst="rect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216151"/>
            <a:ext cx="49834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Program 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709928"/>
            <a:ext cx="5096716" cy="4924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Completed from 11 August 2026 to 25 August 2026, with a certificate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issued upon successful completion.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46120"/>
            <a:ext cx="109270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246120"/>
            <a:ext cx="64008" cy="2148840"/>
          </a:xfrm>
          <a:prstGeom prst="rect">
            <a:avLst/>
          </a:prstGeom>
          <a:solidFill>
            <a:srgbClr val="23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3410712"/>
            <a:ext cx="105613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Core Areas Covered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904487"/>
            <a:ext cx="10574210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Communication Skills  •  Thinking Skills for Workplace Success  •  Presentation Skills  •  Soft Skills  •  Resume Writing  •  Group Discussion Skills  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•  Interview Skills  •  Business Etiquette  •  Effective Email Writing  •  Problem-Solving Mindset  •  Accounting Fundamentals  •  IT Foundational Skills  •  Overview of Artificial Intelligence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656539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84"/>
                </a:solidFill>
                <a:latin typeface="Aptos"/>
              </a:defRPr>
            </a:pPr>
            <a:r>
              <a:t>TCS iON Career Edge – Young Professional  |  Adarsh Yadav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584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2. Organization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554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7E4"/>
                </a:solidFill>
                <a:latin typeface="Aptos"/>
              </a:defRPr>
            </a:pPr>
            <a:r>
              <a:t>TCS 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64008" cy="452628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216151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TCS 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09928"/>
            <a:ext cx="3457954" cy="129266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dirty="0"/>
              <a:t>TCS </a:t>
            </a:r>
            <a:r>
              <a:rPr dirty="0" err="1"/>
              <a:t>iON</a:t>
            </a:r>
            <a:r>
              <a:rPr dirty="0"/>
              <a:t> is a strategic business unit of Tata </a:t>
            </a:r>
            <a:endParaRPr lang="en-US" dirty="0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Consultancy Services focused on technology-led solutions for education and skill development. Its platform supports learning, assessment and related institutional processes.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05156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051560"/>
            <a:ext cx="64008" cy="2057400"/>
          </a:xfrm>
          <a:prstGeom prst="rect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216151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Industry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709928"/>
            <a:ext cx="2880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Education Technology</a:t>
            </a:r>
            <a:br/>
            <a:r>
              <a:t>Skill Development</a:t>
            </a:r>
            <a:br/>
            <a:r>
              <a:t>Digital Learning</a:t>
            </a:r>
            <a:br/>
            <a:r>
              <a:t>Assessment &amp; Skilling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051560"/>
            <a:ext cx="35661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051560"/>
            <a:ext cx="64008" cy="2057400"/>
          </a:xfrm>
          <a:prstGeom prst="rect">
            <a:avLst/>
          </a:prstGeom>
          <a:solidFill>
            <a:srgbClr val="23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216151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Program Relevance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1709928"/>
            <a:ext cx="3347762" cy="10926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The Young Professional course connects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academic learning with workplace-oriented skills such as communication, interviews, professional etiquette and foundational IT awareness.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383280"/>
            <a:ext cx="70408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26280" y="3383280"/>
            <a:ext cx="64008" cy="219456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8" y="3547872"/>
            <a:ext cx="6675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Why this organization mattered for the program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4041648"/>
            <a:ext cx="6819084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dirty="0"/>
              <a:t>The program provided a structured setting to develop professional readiness alongside </a:t>
            </a:r>
            <a:endParaRPr lang="en-US" dirty="0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dirty="0"/>
              <a:t>technical education. It complements </a:t>
            </a:r>
            <a:r>
              <a:rPr dirty="0" err="1"/>
              <a:t>B.Tech</a:t>
            </a:r>
            <a:r>
              <a:rPr dirty="0"/>
              <a:t> CSE studies by strengthening communication, workplace thinking and awareness of current technology areas.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656539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84"/>
                </a:solidFill>
                <a:latin typeface="Aptos"/>
              </a:defRPr>
            </a:pPr>
            <a:r>
              <a:t>TCS iON Career Edge – Young Professional  |  Adarsh Yadav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584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3. Problem Statement / Training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554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7E4"/>
                </a:solidFill>
                <a:latin typeface="Aptos"/>
              </a:defRPr>
            </a:pPr>
            <a:r>
              <a:t>Why the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43000"/>
            <a:ext cx="10424160" cy="4800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E2630"/>
                </a:solidFill>
                <a:latin typeface="Aptos"/>
              </a:defRPr>
            </a:pPr>
            <a:r>
              <a:t>Technical education alone is not sufficient for effective workplace performance.</a:t>
            </a:r>
          </a:p>
          <a:p>
            <a:pPr>
              <a:spcAft>
                <a:spcPts val="700"/>
              </a:spcAft>
              <a:defRPr sz="1800">
                <a:solidFill>
                  <a:srgbClr val="1E2630"/>
                </a:solidFill>
                <a:latin typeface="Aptos"/>
              </a:defRPr>
            </a:pPr>
            <a:r>
              <a:t>Students need communication and presentation skills to explain ideas clearly.</a:t>
            </a:r>
          </a:p>
          <a:p>
            <a:pPr>
              <a:spcAft>
                <a:spcPts val="700"/>
              </a:spcAft>
              <a:defRPr sz="1800">
                <a:solidFill>
                  <a:srgbClr val="1E2630"/>
                </a:solidFill>
                <a:latin typeface="Aptos"/>
              </a:defRPr>
            </a:pPr>
            <a:r>
              <a:t>Resume, group discussion and interview skills are important for entering professional environments.</a:t>
            </a:r>
          </a:p>
          <a:p>
            <a:pPr>
              <a:spcAft>
                <a:spcPts val="700"/>
              </a:spcAft>
              <a:defRPr sz="1800">
                <a:solidFill>
                  <a:srgbClr val="1E2630"/>
                </a:solidFill>
                <a:latin typeface="Aptos"/>
              </a:defRPr>
            </a:pPr>
            <a:r>
              <a:t>Professional etiquette and effective email writing support day-to-day workplace communication.</a:t>
            </a:r>
          </a:p>
          <a:p>
            <a:pPr>
              <a:spcAft>
                <a:spcPts val="700"/>
              </a:spcAft>
              <a:defRPr sz="1800">
                <a:solidFill>
                  <a:srgbClr val="1E2630"/>
                </a:solidFill>
                <a:latin typeface="Aptos"/>
              </a:defRPr>
            </a:pPr>
            <a:r>
              <a:t>A problem-solving mindset helps students approach workplace situations more systematically.</a:t>
            </a:r>
          </a:p>
          <a:p>
            <a:pPr>
              <a:spcAft>
                <a:spcPts val="700"/>
              </a:spcAft>
              <a:defRPr sz="1800">
                <a:solidFill>
                  <a:srgbClr val="1E2630"/>
                </a:solidFill>
                <a:latin typeface="Aptos"/>
              </a:defRPr>
            </a:pPr>
            <a:r>
              <a:t>Awareness of IT foundations and Artificial Intelligence helps connect professional skills with the technology domain.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577840"/>
            <a:ext cx="10287000" cy="566928"/>
          </a:xfrm>
          <a:prstGeom prst="roundRect">
            <a:avLst/>
          </a:prstGeom>
          <a:solidFill>
            <a:srgbClr val="E5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2340"/>
                </a:solidFill>
                <a:latin typeface="Aptos"/>
              </a:defRPr>
            </a:pPr>
            <a:r>
              <a:t>Training focus: becoming more workplace-ready while building on a technical education.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6539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84"/>
                </a:solidFill>
                <a:latin typeface="Aptos"/>
              </a:defRPr>
            </a:pPr>
            <a:r>
              <a:t>TCS iON Career Edge – Young Professional  |  Adarsh Yadav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584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4. Program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554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7E4"/>
                </a:solidFill>
                <a:latin typeface="Aptos"/>
              </a:defRPr>
            </a:pPr>
            <a:r>
              <a:t>Learning goals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063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64008" cy="192024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216151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Communicate effectively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09928"/>
            <a:ext cx="2859194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Build clear professional communication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and workplace interaction skills.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051560"/>
            <a:ext cx="3063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69080" y="1051560"/>
            <a:ext cx="64008" cy="1920240"/>
          </a:xfrm>
          <a:prstGeom prst="rect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70248" y="1216151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Present ideas clearly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1709928"/>
            <a:ext cx="2862175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Strengthen presentation skills 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and confidence in expressing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051560"/>
            <a:ext cx="3063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79" y="1051560"/>
            <a:ext cx="64008" cy="1920240"/>
          </a:xfrm>
          <a:prstGeom prst="rect">
            <a:avLst/>
          </a:prstGeom>
          <a:solidFill>
            <a:srgbClr val="23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99248" y="1216151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Prepare for recruitment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1709928"/>
            <a:ext cx="2967223" cy="4924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Develop resume, group discussion and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interview readiness.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74720"/>
            <a:ext cx="3063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474720"/>
            <a:ext cx="64008" cy="1920240"/>
          </a:xfrm>
          <a:prstGeom prst="rect">
            <a:avLst/>
          </a:prstGeom>
          <a:solidFill>
            <a:srgbClr val="23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3639312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Think professionally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133087"/>
            <a:ext cx="2905732" cy="4924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Build workplace-oriented thinking and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a problem-solving mindset.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9080" y="3474720"/>
            <a:ext cx="3063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069080" y="3474720"/>
            <a:ext cx="64008" cy="192024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70248" y="3639312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Understand professional norms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4133087"/>
            <a:ext cx="2921634" cy="4924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Learn business etiquette and effective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email writing.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3474720"/>
            <a:ext cx="3063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98079" y="3474720"/>
            <a:ext cx="64008" cy="1920240"/>
          </a:xfrm>
          <a:prstGeom prst="rect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99248" y="3639312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Strengthen technology awareness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4133087"/>
            <a:ext cx="2773516" cy="4924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Gain IT foundational knowledge and 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an overview of Artificial Intelligence.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656539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84"/>
                </a:solidFill>
                <a:latin typeface="Aptos"/>
              </a:defRPr>
            </a:pPr>
            <a:r>
              <a:t>TCS iON Career Edge – Young Professional  |  Adarsh Yadav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584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5. Scope of the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554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7E4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64008" cy="452628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2618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Professional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55648"/>
            <a:ext cx="30632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• Communication Skills</a:t>
            </a:r>
            <a:br/>
            <a:r>
              <a:t>• Presentation Skills</a:t>
            </a:r>
            <a:br/>
            <a:r>
              <a:t>• Soft Skills</a:t>
            </a:r>
            <a:br/>
            <a:r>
              <a:t>• Business Etiquette</a:t>
            </a:r>
            <a:br/>
            <a:r>
              <a:t>• Effective Email Writing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9728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097280"/>
            <a:ext cx="64008" cy="4526280"/>
          </a:xfrm>
          <a:prstGeom prst="rect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2618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Career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755648"/>
            <a:ext cx="30632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• Resume Writing</a:t>
            </a:r>
            <a:br/>
            <a:r>
              <a:t>• Group Discussion Skills</a:t>
            </a:r>
            <a:br/>
            <a:r>
              <a:t>• Interview Skills</a:t>
            </a:r>
            <a:br/>
            <a:r>
              <a:t>• Thinking Skills for Workplace Success</a:t>
            </a:r>
            <a:br/>
            <a:r>
              <a:t>• Problem-Solving Mindset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9728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097280"/>
            <a:ext cx="64008" cy="4526280"/>
          </a:xfrm>
          <a:prstGeom prst="rect">
            <a:avLst/>
          </a:prstGeom>
          <a:solidFill>
            <a:srgbClr val="23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12618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Foundational 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718926"/>
            <a:ext cx="3208148" cy="16927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dirty="0"/>
              <a:t>• Accounting Fundamentals</a:t>
            </a:r>
            <a:br>
              <a:rPr dirty="0"/>
            </a:br>
            <a:r>
              <a:rPr dirty="0"/>
              <a:t>• IT Foundational Skills</a:t>
            </a:r>
            <a:br>
              <a:rPr dirty="0"/>
            </a:br>
            <a:r>
              <a:rPr dirty="0"/>
              <a:t>• Overview of Artificial Intelligence</a:t>
            </a:r>
            <a:br>
              <a:rPr dirty="0"/>
            </a:br>
            <a:br>
              <a:rPr dirty="0"/>
            </a:br>
            <a:r>
              <a:rPr dirty="0"/>
              <a:t>The scope is complementary to a </a:t>
            </a:r>
            <a:r>
              <a:rPr dirty="0" err="1"/>
              <a:t>B.Tech</a:t>
            </a:r>
            <a:r>
              <a:rPr dirty="0"/>
              <a:t> CSE</a:t>
            </a:r>
            <a:endParaRPr lang="en-US" dirty="0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rPr dirty="0"/>
              <a:t>curriculum and focuses on professional readiness.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656539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84"/>
                </a:solidFill>
                <a:latin typeface="Aptos"/>
              </a:defRPr>
            </a:pPr>
            <a:r>
              <a:t>TCS iON Career Edge – Young Professional  |  Adarsh Yadav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584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6. Methodology &amp; Learning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554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7E4"/>
                </a:solidFill>
                <a:latin typeface="Aptos"/>
              </a:defRPr>
            </a:pPr>
            <a:r>
              <a:t>How the program was structured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417320"/>
            <a:ext cx="731520" cy="731520"/>
          </a:xfrm>
          <a:prstGeom prst="ellipse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2340"/>
                </a:solidFill>
                <a:latin typeface="Aptos Display"/>
              </a:defRPr>
            </a:pPr>
            <a:r>
              <a:t>Learn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413" y="2926080"/>
            <a:ext cx="2701943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>
                <a:solidFill>
                  <a:srgbClr val="1E2630"/>
                </a:solidFill>
                <a:latin typeface="Aptos"/>
              </a:defRPr>
            </a:pPr>
            <a:r>
              <a:t>Course modules introduced </a:t>
            </a:r>
            <a:r>
              <a:rPr lang="en-US"/>
              <a:t>profess</a:t>
            </a:r>
          </a:p>
          <a:p>
            <a:pPr algn="ctr">
              <a:defRPr sz="1400">
                <a:solidFill>
                  <a:srgbClr val="1E2630"/>
                </a:solidFill>
                <a:latin typeface="Aptos"/>
              </a:defRPr>
            </a:pPr>
            <a:r>
              <a:rPr lang="en-US" dirty="0" err="1"/>
              <a:t>ional</a:t>
            </a:r>
            <a:r>
              <a:rPr dirty="0"/>
              <a:t> and foundational concepts.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63040" y="1783080"/>
            <a:ext cx="1965960" cy="0"/>
          </a:xfrm>
          <a:prstGeom prst="line">
            <a:avLst/>
          </a:prstGeom>
          <a:ln w="2540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474720" y="1417320"/>
            <a:ext cx="731520" cy="731520"/>
          </a:xfrm>
          <a:prstGeom prst="ellipse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331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2340"/>
                </a:solidFill>
                <a:latin typeface="Aptos Display"/>
              </a:defRPr>
            </a:pPr>
            <a:r>
              <a:t>Understand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5702" y="2926080"/>
            <a:ext cx="2785254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>
                <a:solidFill>
                  <a:srgbClr val="1E2630"/>
                </a:solidFill>
                <a:latin typeface="Aptos"/>
              </a:defRPr>
            </a:pPr>
            <a:r>
              <a:t>Key workplace skills and </a:t>
            </a:r>
            <a:endParaRPr lang="en-US"/>
          </a:p>
          <a:p>
            <a:pPr algn="ctr">
              <a:defRPr sz="1400">
                <a:solidFill>
                  <a:srgbClr val="1E2630"/>
                </a:solidFill>
                <a:latin typeface="Aptos"/>
              </a:defRPr>
            </a:pPr>
            <a:r>
              <a:t>expectations were covered across multiple areas.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51959" y="1783080"/>
            <a:ext cx="1965961" cy="0"/>
          </a:xfrm>
          <a:prstGeom prst="line">
            <a:avLst/>
          </a:prstGeom>
          <a:ln w="2540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263640" y="1417320"/>
            <a:ext cx="731520" cy="731520"/>
          </a:xfrm>
          <a:prstGeom prst="ellipse">
            <a:avLst/>
          </a:prstGeom>
          <a:solidFill>
            <a:srgbClr val="23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31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2340"/>
                </a:solidFill>
                <a:latin typeface="Aptos Display"/>
              </a:defRPr>
            </a:pPr>
            <a:r>
              <a:t>Develop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9538" y="2926080"/>
            <a:ext cx="2951491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>
                <a:solidFill>
                  <a:srgbClr val="1E2630"/>
                </a:solidFill>
                <a:latin typeface="Aptos"/>
              </a:defRPr>
            </a:pPr>
            <a:r>
              <a:t>The program focused on building</a:t>
            </a:r>
            <a:endParaRPr lang="en-US"/>
          </a:p>
          <a:p>
            <a:pPr algn="ctr">
              <a:defRPr sz="14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communication, career-readiness and problem-solving capabilities.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40879" y="1783080"/>
            <a:ext cx="1965961" cy="0"/>
          </a:xfrm>
          <a:prstGeom prst="line">
            <a:avLst/>
          </a:prstGeom>
          <a:ln w="2540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052559" y="1417320"/>
            <a:ext cx="731520" cy="731520"/>
          </a:xfrm>
          <a:prstGeom prst="ellipse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39" y="2331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2340"/>
                </a:solidFill>
                <a:latin typeface="Aptos Display"/>
              </a:defRPr>
            </a:pPr>
            <a:r>
              <a:t>Apply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777" y="2926080"/>
            <a:ext cx="3521046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>
                <a:solidFill>
                  <a:srgbClr val="1E2630"/>
                </a:solidFill>
                <a:latin typeface="Aptos"/>
              </a:defRPr>
            </a:pPr>
            <a:r>
              <a:t>The learning is intended to support </a:t>
            </a:r>
            <a:endParaRPr lang="en-US"/>
          </a:p>
          <a:p>
            <a:pPr algn="ctr">
              <a:defRPr sz="1400">
                <a:solidFill>
                  <a:srgbClr val="1E2630"/>
                </a:solidFill>
                <a:latin typeface="Aptos"/>
              </a:defRPr>
            </a:pPr>
            <a:r>
              <a:t>professional interactions, recruitment situations and workplace communication.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656539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84"/>
                </a:solidFill>
                <a:latin typeface="Aptos"/>
              </a:defRPr>
            </a:pPr>
            <a:r>
              <a:t>TCS iON Career Edge – Young Professional  |  Adarsh Yadav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584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7. Expected Outcomes / 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554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7E4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64008" cy="192024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2161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09928"/>
            <a:ext cx="2554930" cy="4924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Improved awareness of clear and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professional communication.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5156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051560"/>
            <a:ext cx="64008" cy="1920240"/>
          </a:xfrm>
          <a:prstGeom prst="rect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2161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709928"/>
            <a:ext cx="2627964" cy="69249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Better understanding of how to 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structure and deliver professional 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presentations.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05156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19" y="1051560"/>
            <a:ext cx="64008" cy="1920240"/>
          </a:xfrm>
          <a:prstGeom prst="rect">
            <a:avLst/>
          </a:prstGeom>
          <a:solidFill>
            <a:srgbClr val="23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2161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Career Readiness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709928"/>
            <a:ext cx="2649187" cy="4924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Greater familiarity with resumes,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group discussions and interviews.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83279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383279"/>
            <a:ext cx="64008" cy="192024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35478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Workplace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041648"/>
            <a:ext cx="3021083" cy="4924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Awareness of etiquette, email practices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and professional expectations.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383279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3383279"/>
            <a:ext cx="64008" cy="1920240"/>
          </a:xfrm>
          <a:prstGeom prst="rect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4568" y="35478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Problem Solving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041648"/>
            <a:ext cx="2682722" cy="69249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Stronger emphasis on approaching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workplace challenges with a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problem-solving mindset.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3383279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19" y="3383279"/>
            <a:ext cx="64008" cy="1920240"/>
          </a:xfrm>
          <a:prstGeom prst="rect">
            <a:avLst/>
          </a:prstGeom>
          <a:solidFill>
            <a:srgbClr val="23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47888" y="35478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Technology Awareness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041648"/>
            <a:ext cx="2715487" cy="49244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Broader exposure to IT foundations 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and Artificial Intelligence.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80644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22340"/>
                </a:solidFill>
                <a:latin typeface="Aptos"/>
              </a:defRPr>
            </a:pPr>
            <a:r>
              <a:t>Overall outcome: stronger professional preparedness alongside technical education.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656539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84"/>
                </a:solidFill>
                <a:latin typeface="Aptos"/>
              </a:defRPr>
            </a:pPr>
            <a:r>
              <a:t>TCS iON Career Edge – Young Professional  |  Adarsh Yadav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584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8. Internship / Training Completion Certificate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554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7E4"/>
                </a:solidFill>
                <a:latin typeface="Aptos"/>
              </a:defRPr>
            </a:pPr>
            <a:r>
              <a:t>Evidence</a:t>
            </a:r>
          </a:p>
        </p:txBody>
      </p:sp>
      <p:pic>
        <p:nvPicPr>
          <p:cNvPr id="6" name="Picture 5" descr="certificate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7132320" cy="504288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1792" y="1033271"/>
            <a:ext cx="7168896" cy="5074920"/>
          </a:xfrm>
          <a:prstGeom prst="rect">
            <a:avLst/>
          </a:prstGeom>
          <a:noFill/>
          <a:ln w="1905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92440" y="11430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92440" y="1143000"/>
            <a:ext cx="64008" cy="150876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93608" y="13075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Certificate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1801368"/>
            <a:ext cx="3108960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TCS iON Career Edge – Young Professional</a:t>
            </a:r>
            <a:br/>
            <a:r>
              <a:t>Completed: 25 August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88036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2880360"/>
            <a:ext cx="64008" cy="1920240"/>
          </a:xfrm>
          <a:prstGeom prst="rect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304495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Covered Areas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3566270"/>
            <a:ext cx="3257127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Communication, thinking skills,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presentation, soft skills, resume writing, interviews, workplace etiquette, problem-solving, IT foundations and AI overview.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516636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97584"/>
                </a:solidFill>
                <a:latin typeface="Aptos"/>
              </a:defRPr>
            </a:pPr>
            <a:r>
              <a:t>Certificate attached separately for verification.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656539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84"/>
                </a:solidFill>
                <a:latin typeface="Aptos"/>
              </a:defRPr>
            </a:pPr>
            <a:r>
              <a:t>TCS iON Career Edge – Young Professional  |  Adarsh Yadav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584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9.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554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7E4"/>
                </a:solidFill>
                <a:latin typeface="Aptos"/>
              </a:defRPr>
            </a:pPr>
            <a:r>
              <a:t>Reflection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51663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143000"/>
            <a:ext cx="64008" cy="4389120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30759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01368"/>
            <a:ext cx="4964561" cy="14927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dirty="0"/>
              <a:t>The TCS </a:t>
            </a:r>
            <a:r>
              <a:rPr err="1"/>
              <a:t>iON</a:t>
            </a:r>
            <a:r>
              <a:t> Career Edge – Young Professional program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rPr dirty="0"/>
              <a:t>complemented my </a:t>
            </a:r>
            <a:r>
              <a:rPr err="1"/>
              <a:t>B.Tech</a:t>
            </a:r>
            <a:r>
              <a:t> CSE education by focusing on the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rPr dirty="0"/>
              <a:t>professional skills required beyond technical knowledge.</a:t>
            </a:r>
            <a:br>
              <a:rPr dirty="0"/>
            </a:br>
            <a:br>
              <a:rPr dirty="0"/>
            </a:br>
            <a:r>
              <a:t>It strengthened my understanding of communication, presentation,</a:t>
            </a:r>
            <a:endParaRPr lang="en-US" dirty="0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rPr dirty="0"/>
              <a:t>recruitment readiness, workplace etiquette, problem-solving and foundational technology awareness.</a:t>
            </a: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64008" cy="1920240"/>
          </a:xfrm>
          <a:prstGeom prst="rect">
            <a:avLst/>
          </a:prstGeom>
          <a:solidFill>
            <a:srgbClr val="E8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30759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How it supports my career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801368"/>
            <a:ext cx="4968989" cy="69249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These skills can help me communicate technical ideas, prepare for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interviews, work professionally in teams and adapt to workplace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rPr lang="en-US" dirty="0"/>
              <a:t> </a:t>
            </a:r>
            <a:r>
              <a:t>expectations.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337560"/>
            <a:ext cx="5257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3337560"/>
            <a:ext cx="64008" cy="2194560"/>
          </a:xfrm>
          <a:prstGeom prst="rect">
            <a:avLst/>
          </a:prstGeom>
          <a:solidFill>
            <a:srgbClr val="235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3368" y="350215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340"/>
                </a:solidFill>
                <a:latin typeface="Aptos Display"/>
              </a:defRPr>
            </a:pPr>
            <a:r>
              <a:t>Next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995928"/>
            <a:ext cx="5084467" cy="6924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I will continue building technical depth through coding, projects and </a:t>
            </a:r>
            <a:endParaRPr lang="en-US"/>
          </a:p>
          <a:p>
            <a:pPr>
              <a:defRPr sz="1300">
                <a:solidFill>
                  <a:srgbClr val="1E2630"/>
                </a:solidFill>
                <a:latin typeface="Aptos"/>
              </a:defRPr>
            </a:pPr>
            <a:r>
              <a:t>problem-solving while applying the professional skills developed through this program.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656539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84"/>
                </a:solidFill>
                <a:latin typeface="Aptos"/>
              </a:defRPr>
            </a:pPr>
            <a:r>
              <a:t>TCS iON Career Edge – Young Professional  |  Adarsh Yadav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58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10. References &amp; Supporting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554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D7E4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241280" cy="24688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630"/>
                </a:solidFill>
                <a:latin typeface="Aptos"/>
              </a:defRPr>
            </a:pPr>
            <a:r>
              <a:t>TCS iON Career Edge – Young Professional Certificate, issued on 25 August 2026.</a:t>
            </a:r>
          </a:p>
          <a:p>
            <a:pPr>
              <a:spcAft>
                <a:spcPts val="700"/>
              </a:spcAft>
              <a:defRPr sz="1700">
                <a:solidFill>
                  <a:srgbClr val="1E2630"/>
                </a:solidFill>
                <a:latin typeface="Aptos"/>
              </a:defRPr>
            </a:pPr>
            <a:r>
              <a:t>IILM University Internship Report Format updated 26–27 (provided by the university).</a:t>
            </a:r>
          </a:p>
          <a:p>
            <a:pPr>
              <a:spcAft>
                <a:spcPts val="700"/>
              </a:spcAft>
              <a:defRPr sz="1700">
                <a:solidFill>
                  <a:srgbClr val="1E2630"/>
                </a:solidFill>
                <a:latin typeface="Aptos"/>
              </a:defRPr>
            </a:pPr>
            <a:r>
              <a:t>TCS iON official information and brand resources.</a:t>
            </a:r>
          </a:p>
          <a:p>
            <a:pPr>
              <a:spcAft>
                <a:spcPts val="700"/>
              </a:spcAft>
              <a:defRPr sz="1700">
                <a:solidFill>
                  <a:srgbClr val="1E2630"/>
                </a:solidFill>
                <a:latin typeface="Aptos"/>
              </a:defRPr>
            </a:pPr>
            <a:r>
              <a:t>IILM University, Greater Noida official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8620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5891"/>
                </a:solidFill>
                <a:latin typeface="Aptos"/>
              </a:defRPr>
            </a:pPr>
            <a:r>
              <a:t>TCS iON: https://www.tcsion.com/</a:t>
            </a:r>
          </a:p>
          <a:p>
            <a:pPr>
              <a:spcAft>
                <a:spcPts val="1000"/>
              </a:spcAft>
              <a:defRPr sz="1500">
                <a:solidFill>
                  <a:srgbClr val="235891"/>
                </a:solidFill>
                <a:latin typeface="Aptos"/>
              </a:defRPr>
            </a:pPr>
            <a:r>
              <a:t>IILM University: https://iilm.edu/greater-noida/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340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28816"/>
            <a:ext cx="11155680" cy="13716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656539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584"/>
                </a:solidFill>
                <a:latin typeface="Aptos"/>
              </a:defRPr>
            </a:pPr>
            <a:r>
              <a:t>TCS iON Career Edge – Young Professional  |  Adarsh Yadav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58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School of Computer Science and Engineering   IILM University, Greater Noida, U.P.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 iON Career Edge – Young Professional | Internship Presentation</dc:title>
  <dc:subject>Training / Internship Presentation</dc:subject>
  <dc:creator>Adarsh Yadav</dc:creator>
  <cp:keywords/>
  <dc:description>generated using python-pptx</dc:description>
  <cp:lastModifiedBy>Steve Canny</cp:lastModifiedBy>
  <cp:revision>58</cp:revision>
  <dcterms:created xsi:type="dcterms:W3CDTF">2013-01-27T09:14:16Z</dcterms:created>
  <dcterms:modified xsi:type="dcterms:W3CDTF">2026-08-26T06:24:41Z</dcterms:modified>
  <cp:category/>
</cp:coreProperties>
</file>